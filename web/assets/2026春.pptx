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3"/>
    <p:sldId id="286" r:id="rId4"/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88" r:id="rId13"/>
    <p:sldId id="266" r:id="rId14"/>
    <p:sldId id="267" r:id="rId15"/>
    <p:sldId id="289" r:id="rId16"/>
    <p:sldId id="268" r:id="rId17"/>
    <p:sldId id="271" r:id="rId18"/>
    <p:sldId id="272" r:id="rId19"/>
    <p:sldId id="270" r:id="rId20"/>
    <p:sldId id="273" r:id="rId21"/>
    <p:sldId id="274" r:id="rId22"/>
    <p:sldId id="275" r:id="rId23"/>
    <p:sldId id="287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4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2" r:id="rId54"/>
    <p:sldId id="313" r:id="rId55"/>
    <p:sldId id="314" r:id="rId56"/>
    <p:sldId id="315" r:id="rId57"/>
    <p:sldId id="318" r:id="rId58"/>
    <p:sldId id="319" r:id="rId59"/>
    <p:sldId id="320" r:id="rId60"/>
    <p:sldId id="321" r:id="rId61"/>
    <p:sldId id="316" r:id="rId62"/>
    <p:sldId id="317" r:id="rId63"/>
    <p:sldId id="311" r:id="rId64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共建智能-了不起的创新" id="{6c18d3f4-c88f-4f01-aebd-85b19fa9edb3}">
          <p14:sldIdLst>
            <p14:sldId id="290"/>
            <p14:sldId id="286"/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88"/>
            <p14:sldId id="266"/>
            <p14:sldId id="267"/>
            <p14:sldId id="289"/>
            <p14:sldId id="268"/>
            <p14:sldId id="271"/>
            <p14:sldId id="272"/>
            <p14:sldId id="270"/>
          </p14:sldIdLst>
        </p14:section>
        <p14:section name="开始" id="{6550b05a-0195-48a4-9189-1f905fe84736}">
          <p14:sldIdLst>
            <p14:sldId id="273"/>
            <p14:sldId id="274"/>
            <p14:sldId id="275"/>
            <p14:sldId id="287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5"/>
            <p14:sldId id="284"/>
            <p14:sldId id="291"/>
            <p14:sldId id="292"/>
            <p14:sldId id="293"/>
            <p14:sldId id="294"/>
            <p14:sldId id="295"/>
            <p14:sldId id="296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2"/>
            <p14:sldId id="313"/>
            <p14:sldId id="314"/>
            <p14:sldId id="315"/>
            <p14:sldId id="318"/>
            <p14:sldId id="319"/>
            <p14:sldId id="320"/>
            <p14:sldId id="321"/>
            <p14:sldId id="316"/>
            <p14:sldId id="317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319"/>
    <a:srgbClr val="222C05"/>
    <a:srgbClr val="6C8220"/>
    <a:srgbClr val="FFFFFF"/>
    <a:srgbClr val="131416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tags" Target="tags/tag137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8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11.png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19.pn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5.xml"/><Relationship Id="rId3" Type="http://schemas.openxmlformats.org/officeDocument/2006/relationships/image" Target="../media/image21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7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8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9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101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tags" Target="../tags/tag100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03.xml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tags" Target="../tags/tag10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3.xml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4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5.xml"/><Relationship Id="rId1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6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3.xml"/><Relationship Id="rId1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共建智能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5017453" y="1385253"/>
            <a:ext cx="2157095" cy="40874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助手logo方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2075" y="2505075"/>
            <a:ext cx="1847215" cy="1847215"/>
          </a:xfrm>
          <a:prstGeom prst="round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2023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7630" y="2500630"/>
            <a:ext cx="1856740" cy="1856740"/>
          </a:xfrm>
          <a:prstGeom prst="round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-821690" y="-262890"/>
            <a:ext cx="13638530" cy="78606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899">
        <p159:morph option="byObject"/>
      </p:transition>
    </mc:Choice>
    <mc:Fallback>
      <p:transition advTm="89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9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192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" dur="192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7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" dur="192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9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249035" y="-501015"/>
            <a:ext cx="5384165" cy="7860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7931150" y="2968625"/>
            <a:ext cx="2019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云</a:t>
            </a:r>
            <a:r>
              <a:rPr lang="en-US" altLang="zh-CN" sz="5400"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UI</a:t>
            </a:r>
            <a:endParaRPr lang="en-US" altLang="zh-CN" sz="5400"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2024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300">
        <p159:morph option="byObject"/>
      </p:transition>
    </mc:Choice>
    <mc:Fallback>
      <p:transition advTm="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042035" y="2500630"/>
            <a:ext cx="1857600" cy="185760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云U AI库logo开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595" y="725805"/>
            <a:ext cx="4723130" cy="8392795"/>
          </a:xfrm>
          <a:prstGeom prst="round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300">
        <p159:morph option="byObject"/>
      </p:transition>
    </mc:Choice>
    <mc:Fallback>
      <p:transition advTm="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:/桌面/共建智能/云U/logo/云U便签logo启动.png云U便签logo启动"/>
          <p:cNvPicPr>
            <a:picLocks noChangeAspect="1"/>
          </p:cNvPicPr>
          <p:nvPr/>
        </p:nvPicPr>
        <p:blipFill>
          <a:blip r:embed="rId1"/>
          <a:srcRect l="8" r="8"/>
          <a:stretch>
            <a:fillRect/>
          </a:stretch>
        </p:blipFill>
        <p:spPr>
          <a:xfrm>
            <a:off x="5776595" y="725805"/>
            <a:ext cx="4723130" cy="8392795"/>
          </a:xfrm>
          <a:prstGeom prst="roundRect">
            <a:avLst/>
          </a:prstGeom>
        </p:spPr>
      </p:pic>
      <p:pic>
        <p:nvPicPr>
          <p:cNvPr id="5" name="图片 4" descr="云U便签logo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995" y="1651635"/>
            <a:ext cx="1852930" cy="18529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999000" y="999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65" y="2968625"/>
            <a:ext cx="920750" cy="92075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075940" y="2968625"/>
            <a:ext cx="7593965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嘿，我是小共！</a:t>
            </a:r>
            <a:endParaRPr lang="zh-CN" altLang="en-US" sz="2800"/>
          </a:p>
        </p:txBody>
      </p:sp>
      <p:pic>
        <p:nvPicPr>
          <p:cNvPr id="7" name="图片 6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96975" y="-2835275"/>
            <a:ext cx="14876780" cy="148767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Tm="300"/>
    </mc:Choice>
    <mc:Fallback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860425"/>
            <a:ext cx="920750" cy="92075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298700" y="860425"/>
            <a:ext cx="7593965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嘿，我是小共！</a:t>
            </a:r>
            <a:endParaRPr lang="zh-CN" altLang="en-US" sz="2800"/>
          </a:p>
        </p:txBody>
      </p:sp>
      <p:sp>
        <p:nvSpPr>
          <p:cNvPr id="2" name="圆角矩形 1"/>
          <p:cNvSpPr/>
          <p:nvPr/>
        </p:nvSpPr>
        <p:spPr>
          <a:xfrm>
            <a:off x="3035300" y="2854325"/>
            <a:ext cx="7593965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云谷智言，你的智能</a:t>
            </a:r>
            <a:r>
              <a:rPr lang="zh-CN" altLang="en-US" sz="2800"/>
              <a:t>助手</a:t>
            </a:r>
            <a:endParaRPr lang="zh-CN" altLang="en-US" sz="2800"/>
          </a:p>
        </p:txBody>
      </p:sp>
      <p:pic>
        <p:nvPicPr>
          <p:cNvPr id="3" name="图片 2" descr="D:/桌面/乐鸡云谷/云U新UI/云谷智言新UI图标（实心）.png云谷智言新UI图标（实心）"/>
          <p:cNvPicPr>
            <a:picLocks noChangeAspect="1"/>
          </p:cNvPicPr>
          <p:nvPr/>
        </p:nvPicPr>
        <p:blipFill>
          <a:blip r:embed="rId2"/>
          <a:srcRect t="34" b="34"/>
          <a:stretch>
            <a:fillRect/>
          </a:stretch>
        </p:blipFill>
        <p:spPr>
          <a:xfrm>
            <a:off x="10956925" y="2854325"/>
            <a:ext cx="920750" cy="920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600">
        <p159:morph option="byObject"/>
      </p:transition>
    </mc:Choice>
    <mc:Fallback>
      <p:transition advTm="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714375" y="511810"/>
            <a:ext cx="6393180" cy="4507865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 anchor="b" anchorCtr="0">
            <a:spAutoFit/>
          </a:bodyPr>
          <a:p>
            <a:pPr algn="ctr"/>
            <a:r>
              <a:rPr lang="en-US" altLang="zh-CN" sz="28700"/>
              <a:t>2.0</a:t>
            </a:r>
            <a:endParaRPr lang="zh-CN" altLang="en-US" sz="28700"/>
          </a:p>
        </p:txBody>
      </p:sp>
      <p:pic>
        <p:nvPicPr>
          <p:cNvPr id="9" name="图片 2" descr="D:/桌面/乐鸡云谷/云U新UI/云谷智言新UI图标（实心）.png云谷智言新UI图标（实心）"/>
          <p:cNvPicPr>
            <a:picLocks noChangeAspect="1"/>
          </p:cNvPicPr>
          <p:nvPr/>
        </p:nvPicPr>
        <p:blipFill>
          <a:blip r:embed="rId1"/>
          <a:srcRect t="34" b="34"/>
          <a:stretch>
            <a:fillRect/>
          </a:stretch>
        </p:blipFill>
        <p:spPr>
          <a:xfrm>
            <a:off x="8391525" y="1809750"/>
            <a:ext cx="3003550" cy="30035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714375" y="511810"/>
            <a:ext cx="6393180" cy="4507865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 anchor="b" anchorCtr="0">
            <a:spAutoFit/>
          </a:bodyPr>
          <a:p>
            <a:pPr algn="ctr"/>
            <a:r>
              <a:rPr lang="en-US" altLang="zh-CN" sz="28700"/>
              <a:t>3.0</a:t>
            </a:r>
            <a:endParaRPr lang="zh-CN" altLang="en-US" sz="28700"/>
          </a:p>
        </p:txBody>
      </p:sp>
      <p:pic>
        <p:nvPicPr>
          <p:cNvPr id="9" name="图片 2" descr="D:/桌面/乐鸡云谷/云U新UI/智言AI图标（实心）.png智言AI图标（实心）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91525" y="1809750"/>
            <a:ext cx="3003550" cy="30035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2" descr="D:/桌面/乐鸡云谷/云U新UI/智言AI图标（实心）.png智言AI图标（实心）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0090" y="854710"/>
            <a:ext cx="1028700" cy="1028700"/>
          </a:xfrm>
          <a:prstGeom prst="rect">
            <a:avLst/>
          </a:prstGeom>
        </p:spPr>
      </p:pic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1985645" y="1113790"/>
            <a:ext cx="9415780" cy="115252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ctr"/>
            <a:r>
              <a:rPr lang="zh-CN" altLang="en-US" sz="2000"/>
              <a:t>嗨，我是小共，你的贴心智能伙伴，时刻助力你高效达成任务，让记忆轻松无忧。</a:t>
            </a:r>
            <a:endParaRPr lang="zh-CN" altLang="en-US" sz="2000"/>
          </a:p>
        </p:txBody>
      </p:sp>
      <p:pic>
        <p:nvPicPr>
          <p:cNvPr id="3" name="图片 2" descr="共建智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635" y="2472055"/>
            <a:ext cx="346075" cy="6559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853930" y="2615565"/>
            <a:ext cx="180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共建智能</a:t>
            </a:r>
            <a:r>
              <a:rPr lang="zh-CN" altLang="en-US"/>
              <a:t>开发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共建智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1385253"/>
            <a:ext cx="2157095" cy="408749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26185" y="1875155"/>
            <a:ext cx="354330" cy="914400"/>
          </a:xfrm>
          <a:prstGeom prst="rect">
            <a:avLst/>
          </a:prstGeom>
          <a:gradFill>
            <a:gsLst>
              <a:gs pos="0">
                <a:schemeClr val="accent1">
                  <a:hueOff val="-2520000"/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500">
        <p159:morph option="byObject"/>
      </p:transition>
    </mc:Choice>
    <mc:Fallback>
      <p:transition advTm="5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21970" y="546100"/>
            <a:ext cx="8892540" cy="4294505"/>
          </a:xfrm>
          <a:prstGeom prst="rect">
            <a:avLst/>
          </a:prstGeom>
          <a:gradFill>
            <a:gsLst>
              <a:gs pos="0">
                <a:schemeClr val="accent1">
                  <a:hueOff val="-25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373505" y="1280795"/>
            <a:ext cx="8892540" cy="42945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49195" y="2242185"/>
            <a:ext cx="8892540" cy="42945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NEW UI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500">
        <p159:morph option="byObject"/>
      </p:transition>
    </mc:Choice>
    <mc:Fallback>
      <p:transition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892175" y="2498090"/>
            <a:ext cx="6393180" cy="1861185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 anchor="b" anchorCtr="0">
            <a:spAutoFit/>
          </a:bodyPr>
          <a:p>
            <a:pPr algn="ctr"/>
            <a:r>
              <a:rPr lang="zh-CN" altLang="en-US" sz="11500"/>
              <a:t>云</a:t>
            </a:r>
            <a:r>
              <a:rPr lang="en-US" altLang="zh-CN" sz="11500"/>
              <a:t>U</a:t>
            </a:r>
            <a:endParaRPr lang="en-US" altLang="zh-CN" sz="11500"/>
          </a:p>
        </p:txBody>
      </p:sp>
      <p:pic>
        <p:nvPicPr>
          <p:cNvPr id="3" name="图片 2" descr="新云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4373" y="2538730"/>
            <a:ext cx="2865120" cy="14147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901940" y="2356485"/>
            <a:ext cx="3689985" cy="1779270"/>
          </a:xfrm>
          <a:prstGeom prst="rect">
            <a:avLst/>
          </a:prstGeom>
          <a:gradFill>
            <a:gsLst>
              <a:gs pos="0">
                <a:schemeClr val="accent1">
                  <a:hueOff val="-25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  <p:pic>
        <p:nvPicPr>
          <p:cNvPr id="9" name="图片 8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9415" y="2102485"/>
            <a:ext cx="2438400" cy="963295"/>
          </a:xfrm>
          <a:prstGeom prst="rect">
            <a:avLst/>
          </a:prstGeom>
        </p:spPr>
      </p:pic>
      <p:pic>
        <p:nvPicPr>
          <p:cNvPr id="10" name="图片 9" descr="圆形按钮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0" y="-1601470"/>
            <a:ext cx="1017905" cy="963295"/>
          </a:xfrm>
          <a:prstGeom prst="rect">
            <a:avLst/>
          </a:prstGeom>
        </p:spPr>
      </p:pic>
      <p:pic>
        <p:nvPicPr>
          <p:cNvPr id="6" name="图片 5" descr="气泡框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445" y="-1784350"/>
            <a:ext cx="3181985" cy="1146175"/>
          </a:xfrm>
          <a:prstGeom prst="rect">
            <a:avLst/>
          </a:prstGeom>
        </p:spPr>
      </p:pic>
      <p:pic>
        <p:nvPicPr>
          <p:cNvPr id="5" name="图片 4" descr="气泡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690" y="-4603750"/>
            <a:ext cx="3181985" cy="4425950"/>
          </a:xfrm>
          <a:prstGeom prst="rect">
            <a:avLst/>
          </a:prstGeom>
        </p:spPr>
      </p:pic>
      <p:pic>
        <p:nvPicPr>
          <p:cNvPr id="7" name="图片 6" descr="按钮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545" y="7130415"/>
            <a:ext cx="2438400" cy="963295"/>
          </a:xfrm>
          <a:prstGeom prst="rect">
            <a:avLst/>
          </a:prstGeom>
        </p:spPr>
      </p:pic>
      <p:pic>
        <p:nvPicPr>
          <p:cNvPr id="11" name="图片 10" descr="按钮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7297420"/>
            <a:ext cx="2438400" cy="9632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ppt_w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ppt_h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8"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" y="2102485"/>
            <a:ext cx="2438400" cy="963295"/>
          </a:xfrm>
          <a:prstGeom prst="rect">
            <a:avLst/>
          </a:prstGeom>
        </p:spPr>
      </p:pic>
      <p:pic>
        <p:nvPicPr>
          <p:cNvPr id="10" name="图片 9" descr="圆形按钮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040" y="1293495"/>
            <a:ext cx="1017905" cy="963295"/>
          </a:xfrm>
          <a:prstGeom prst="rect">
            <a:avLst/>
          </a:prstGeom>
        </p:spPr>
      </p:pic>
      <p:pic>
        <p:nvPicPr>
          <p:cNvPr id="6" name="图片 5" descr="气泡框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445" y="1110615"/>
            <a:ext cx="3181985" cy="1146175"/>
          </a:xfrm>
          <a:prstGeom prst="rect">
            <a:avLst/>
          </a:prstGeom>
        </p:spPr>
      </p:pic>
      <p:pic>
        <p:nvPicPr>
          <p:cNvPr id="5" name="图片 4" descr="气泡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690" y="1767205"/>
            <a:ext cx="3181985" cy="44259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3875" y="2366010"/>
            <a:ext cx="6393180" cy="3630930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 anchor="b" anchorCtr="0">
            <a:spAutoFit/>
          </a:bodyPr>
          <a:p>
            <a:pPr algn="ctr"/>
            <a:r>
              <a:rPr lang="en-US" altLang="zh-CN" sz="11500"/>
              <a:t>NEW UI 2</a:t>
            </a:r>
            <a:endParaRPr lang="en-US" altLang="zh-CN" sz="11500"/>
          </a:p>
        </p:txBody>
      </p:sp>
      <p:pic>
        <p:nvPicPr>
          <p:cNvPr id="3" name="图片 2" descr="新云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315" y="1642110"/>
            <a:ext cx="4201160" cy="20745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  <p:pic>
        <p:nvPicPr>
          <p:cNvPr id="4" name="图片 3" descr="按钮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545" y="3297555"/>
            <a:ext cx="2438400" cy="963295"/>
          </a:xfrm>
          <a:prstGeom prst="rect">
            <a:avLst/>
          </a:prstGeom>
        </p:spPr>
      </p:pic>
      <p:pic>
        <p:nvPicPr>
          <p:cNvPr id="7" name="图片 6" descr="按钮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5163820"/>
            <a:ext cx="2438400" cy="9632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微信图片_20250330131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0"/>
            <a:ext cx="3248025" cy="6858000"/>
          </a:xfrm>
          <a:prstGeom prst="rect">
            <a:avLst/>
          </a:prstGeom>
        </p:spPr>
      </p:pic>
      <p:pic>
        <p:nvPicPr>
          <p:cNvPr id="3" name="图片 2" descr="新云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7073900"/>
            <a:ext cx="911225" cy="4502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200">
        <p159:morph option="byObject"/>
      </p:transition>
    </mc:Choice>
    <mc:Fallback>
      <p:transition advTm="2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微信图片_20250330131200"/>
          <p:cNvPicPr>
            <a:picLocks noChangeAspect="1"/>
          </p:cNvPicPr>
          <p:nvPr/>
        </p:nvPicPr>
        <p:blipFill>
          <a:blip r:embed="rId1"/>
          <a:srcRect t="9936" r="44498" b="81132"/>
          <a:stretch>
            <a:fillRect/>
          </a:stretch>
        </p:blipFill>
        <p:spPr>
          <a:xfrm>
            <a:off x="2945765" y="2359025"/>
            <a:ext cx="6299835" cy="2140585"/>
          </a:xfrm>
          <a:prstGeom prst="rect">
            <a:avLst/>
          </a:prstGeom>
        </p:spPr>
      </p:pic>
      <p:pic>
        <p:nvPicPr>
          <p:cNvPr id="2" name="图片 1" descr="4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3590925" y="2764790"/>
            <a:ext cx="1274445" cy="12744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300">
        <p159:morph option="byObject"/>
      </p:transition>
    </mc:Choice>
    <mc:Fallback>
      <p:transition advTm="3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892175" y="2498090"/>
            <a:ext cx="7586980" cy="1861185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 anchor="b" anchorCtr="0">
            <a:spAutoFit/>
          </a:bodyPr>
          <a:p>
            <a:pPr algn="ctr"/>
            <a:r>
              <a:rPr lang="zh-CN" altLang="en-US" sz="11500">
                <a:ln>
                  <a:solidFill>
                    <a:schemeClr val="bg1"/>
                  </a:solidFill>
                </a:ln>
              </a:rPr>
              <a:t>共建</a:t>
            </a:r>
            <a:r>
              <a:rPr lang="en-US" altLang="zh-CN" sz="11500">
                <a:ln>
                  <a:solidFill>
                    <a:schemeClr val="bg1"/>
                  </a:solidFill>
                </a:ln>
              </a:rPr>
              <a:t>AI 4</a:t>
            </a:r>
            <a:endParaRPr lang="en-US" altLang="zh-CN" sz="1150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2" name="图片 1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270" y="2446338"/>
            <a:ext cx="1965325" cy="19653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2026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Tm="500">
        <p159:morph option="byObject"/>
      </p:transition>
    </mc:Choice>
    <mc:Fallback>
      <p:transition advTm="5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0" y="4111625"/>
            <a:ext cx="6096635" cy="768350"/>
          </a:xfrm>
          <a:prstGeom prst="rect">
            <a:avLst/>
          </a:prstGeom>
          <a:noFill/>
          <a:effectLst/>
        </p:spPr>
        <p:txBody>
          <a:bodyPr wrap="square" rtlCol="0" anchor="b" anchorCtr="0">
            <a:spAutoFit/>
          </a:bodyPr>
          <a:p>
            <a:pPr algn="l"/>
            <a:r>
              <a:rPr lang="en-US" altLang="zh-CN" sz="4400">
                <a:ln>
                  <a:noFill/>
                </a:ln>
                <a:solidFill>
                  <a:schemeClr val="bg1"/>
                </a:solidFill>
              </a:rPr>
              <a:t> CJAI </a:t>
            </a:r>
            <a:r>
              <a:rPr lang="zh-CN" altLang="en-US" sz="4400">
                <a:ln>
                  <a:noFill/>
                </a:ln>
                <a:solidFill>
                  <a:schemeClr val="bg1"/>
                </a:solidFill>
              </a:rPr>
              <a:t>为知而</a:t>
            </a:r>
            <a:r>
              <a:rPr lang="zh-CN" altLang="en-US" sz="4400">
                <a:ln>
                  <a:noFill/>
                </a:ln>
                <a:solidFill>
                  <a:schemeClr val="bg1"/>
                </a:solidFill>
              </a:rPr>
              <a:t>行</a:t>
            </a:r>
            <a:endParaRPr lang="zh-CN" altLang="en-US" sz="440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5257800"/>
            <a:ext cx="10568940" cy="922020"/>
          </a:xfrm>
          <a:prstGeom prst="rect">
            <a:avLst/>
          </a:prstGeom>
          <a:noFill/>
          <a:effectLst/>
        </p:spPr>
        <p:txBody>
          <a:bodyPr wrap="square" rtlCol="0" anchor="b" anchorCtr="0">
            <a:spAutoFit/>
          </a:bodyPr>
          <a:p>
            <a:pPr algn="l"/>
            <a:r>
              <a:rPr lang="en-US" altLang="zh-CN" sz="5400" b="1">
                <a:ln>
                  <a:noFill/>
                </a:ln>
                <a:solidFill>
                  <a:schemeClr val="bg1"/>
                </a:solidFill>
              </a:rPr>
              <a:t> </a:t>
            </a:r>
            <a:r>
              <a:rPr lang="zh-CN" altLang="en-US" sz="5400" b="1">
                <a:ln>
                  <a:noFill/>
                </a:ln>
                <a:solidFill>
                  <a:schemeClr val="bg1"/>
                </a:solidFill>
              </a:rPr>
              <a:t>共建智能</a:t>
            </a:r>
            <a:r>
              <a:rPr lang="en-US" altLang="zh-CN" sz="5400" b="1">
                <a:ln>
                  <a:noFill/>
                </a:ln>
                <a:solidFill>
                  <a:schemeClr val="bg1"/>
                </a:solidFill>
              </a:rPr>
              <a:t>2026</a:t>
            </a:r>
            <a:r>
              <a:rPr lang="zh-CN" altLang="en-US" sz="5400" b="1">
                <a:ln>
                  <a:noFill/>
                </a:ln>
                <a:solidFill>
                  <a:schemeClr val="bg1"/>
                </a:solidFill>
              </a:rPr>
              <a:t>春季发布会</a:t>
            </a:r>
            <a:endParaRPr lang="zh-CN" altLang="en-US" sz="5400" b="1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5" name="图片 4" descr="共建智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2077720"/>
            <a:ext cx="838835" cy="15894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706995" y="421640"/>
            <a:ext cx="4156075" cy="62674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4C319"/>
              </a:gs>
              <a:gs pos="100000">
                <a:srgbClr val="222C05"/>
              </a:gs>
            </a:gsLst>
          </a:gradFill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合作伙伴：</a:t>
            </a:r>
            <a:r>
              <a:rPr lang="en-US" altLang="zh-CN"/>
              <a:t> @ </a:t>
            </a:r>
            <a:r>
              <a:rPr lang="zh-CN" altLang="en-US"/>
              <a:t>一个机器人</a:t>
            </a:r>
            <a:r>
              <a:rPr lang="en-US" altLang="zh-CN"/>
              <a:t>-</a:t>
            </a:r>
            <a:endParaRPr lang="en-US" altLang="zh-CN"/>
          </a:p>
        </p:txBody>
      </p:sp>
      <p:pic>
        <p:nvPicPr>
          <p:cNvPr id="2" name="图片 1" descr="4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46050" y="2212975"/>
            <a:ext cx="1318895" cy="13188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标题 1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PeaCoco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共建智能首席</a:t>
            </a:r>
            <a:r>
              <a:rPr lang="zh-CN" altLang="en-US"/>
              <a:t>工程师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3038475"/>
            <a:ext cx="2103755" cy="76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0"/>
            <a:ext cx="4064000" cy="6857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23900"/>
              <a:t>2025</a:t>
            </a:r>
            <a:endParaRPr lang="en-US" altLang="zh-CN" sz="239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560638" y="2148205"/>
            <a:ext cx="7070725" cy="25615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78700" y="0"/>
            <a:ext cx="4064000" cy="68573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23900"/>
              <a:t>2026</a:t>
            </a:r>
            <a:endParaRPr lang="en-US" altLang="zh-CN" sz="239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38" y="2148205"/>
            <a:ext cx="7070725" cy="25615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共建云</a:t>
            </a:r>
            <a:r>
              <a:rPr lang="en-US" altLang="zh-CN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1</a:t>
            </a:r>
            <a:endParaRPr lang="en-US" altLang="zh-CN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 anchor="ctr" anchorCtr="0">
            <a:normAutofit fontScale="90000"/>
          </a:bodyPr>
          <a:p>
            <a:r>
              <a:rPr lang="en-US" altLang="zh-CN">
                <a:sym typeface="+mn-ea"/>
              </a:rPr>
              <a:t>CJ-Cloud </a:t>
            </a:r>
            <a:r>
              <a:rPr lang="en-US" altLang="zh-CN" sz="1600" b="1">
                <a:latin typeface="汉仪铸字美心体简" panose="00020600040101010101" charset="-122"/>
                <a:ea typeface="汉仪铸字美心体简" panose="00020600040101010101" charset="-122"/>
                <a:sym typeface="+mn-ea"/>
              </a:rPr>
              <a:t>╳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Gote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981065" y="43802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服务</a:t>
            </a:r>
            <a:r>
              <a:rPr lang="zh-CN" altLang="en-US" sz="4800"/>
              <a:t>器</a:t>
            </a:r>
            <a:endParaRPr lang="zh-CN" altLang="en-US" sz="4800"/>
          </a:p>
        </p:txBody>
      </p:sp>
      <p:sp>
        <p:nvSpPr>
          <p:cNvPr id="3" name="矩形 2"/>
          <p:cNvSpPr/>
          <p:nvPr/>
        </p:nvSpPr>
        <p:spPr>
          <a:xfrm>
            <a:off x="5981065" y="35039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处理</a:t>
            </a:r>
            <a:r>
              <a:rPr lang="zh-CN" altLang="en-US" sz="4800"/>
              <a:t>响应</a:t>
            </a:r>
            <a:endParaRPr lang="zh-CN" altLang="en-US" sz="480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27025" y="2075180"/>
            <a:ext cx="3257550" cy="270764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云</a:t>
            </a:r>
            <a:b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</a:b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快速响应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架构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81065" y="26403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共建云</a:t>
            </a:r>
            <a:r>
              <a:rPr lang="en-US" altLang="zh-CN" sz="4800"/>
              <a:t> </a:t>
            </a:r>
            <a:r>
              <a:rPr lang="zh-CN" altLang="en-US" sz="4800"/>
              <a:t>云平台</a:t>
            </a:r>
            <a:endParaRPr lang="zh-CN" altLang="en-US" sz="4800"/>
          </a:p>
        </p:txBody>
      </p:sp>
      <p:sp>
        <p:nvSpPr>
          <p:cNvPr id="10" name="矩形 9"/>
          <p:cNvSpPr/>
          <p:nvPr/>
        </p:nvSpPr>
        <p:spPr>
          <a:xfrm>
            <a:off x="5981065" y="175641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APP</a:t>
            </a:r>
            <a:r>
              <a:rPr lang="zh-CN" altLang="en-US" sz="4800"/>
              <a:t>客户端</a:t>
            </a:r>
            <a:endParaRPr lang="zh-CN" altLang="en-US" sz="4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981065" y="43802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处理</a:t>
            </a:r>
            <a:endParaRPr lang="zh-CN" altLang="en-US" sz="4800"/>
          </a:p>
        </p:txBody>
      </p:sp>
      <p:sp>
        <p:nvSpPr>
          <p:cNvPr id="3" name="矩形 2"/>
          <p:cNvSpPr/>
          <p:nvPr/>
        </p:nvSpPr>
        <p:spPr>
          <a:xfrm>
            <a:off x="5981065" y="35039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异常请求</a:t>
            </a:r>
            <a:r>
              <a:rPr lang="zh-CN" altLang="en-US" sz="4800"/>
              <a:t>拦截</a:t>
            </a:r>
            <a:endParaRPr lang="zh-CN" altLang="en-US" sz="480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27025" y="2075180"/>
            <a:ext cx="3257550" cy="270764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共建云</a:t>
            </a:r>
            <a:b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</a:b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自我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安全架构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81065" y="26403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/>
              <a:t>CDN</a:t>
            </a:r>
            <a:r>
              <a:rPr lang="zh-CN" altLang="en-US" sz="4800"/>
              <a:t>防御</a:t>
            </a:r>
            <a:endParaRPr lang="zh-CN" altLang="en-US" sz="4800"/>
          </a:p>
        </p:txBody>
      </p:sp>
      <p:sp>
        <p:nvSpPr>
          <p:cNvPr id="10" name="矩形 9"/>
          <p:cNvSpPr/>
          <p:nvPr/>
        </p:nvSpPr>
        <p:spPr>
          <a:xfrm>
            <a:off x="5981065" y="175641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请求</a:t>
            </a:r>
            <a:endParaRPr lang="zh-CN" altLang="en-US" sz="4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981065" y="4380230"/>
            <a:ext cx="5131435" cy="1296035"/>
          </a:xfrm>
          <a:prstGeom prst="rect">
            <a:avLst/>
          </a:prstGeom>
          <a:solidFill>
            <a:srgbClr val="FF0000"/>
          </a:soli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 strike="sngStrike"/>
              <a:t>储存记录</a:t>
            </a:r>
            <a:endParaRPr lang="zh-CN" altLang="en-US" sz="4800" strike="sngStrike"/>
          </a:p>
        </p:txBody>
      </p:sp>
      <p:sp>
        <p:nvSpPr>
          <p:cNvPr id="3" name="矩形 2"/>
          <p:cNvSpPr/>
          <p:nvPr/>
        </p:nvSpPr>
        <p:spPr>
          <a:xfrm>
            <a:off x="5981065" y="35039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无痕</a:t>
            </a:r>
            <a:r>
              <a:rPr lang="zh-CN" altLang="en-US" sz="4800"/>
              <a:t>访问</a:t>
            </a:r>
            <a:endParaRPr lang="zh-CN" altLang="en-US" sz="480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27025" y="2075180"/>
            <a:ext cx="3257550" cy="270764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共建云</a:t>
            </a:r>
            <a:b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</a:b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数据</a:t>
            </a:r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安全架构</a:t>
            </a:r>
            <a:endParaRPr lang="zh-CN" alt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81065" y="264033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800"/>
              <a:t>服务器</a:t>
            </a:r>
            <a:endParaRPr lang="zh-CN" altLang="en-US" sz="4800"/>
          </a:p>
        </p:txBody>
      </p:sp>
      <p:sp>
        <p:nvSpPr>
          <p:cNvPr id="10" name="矩形 9"/>
          <p:cNvSpPr/>
          <p:nvPr/>
        </p:nvSpPr>
        <p:spPr>
          <a:xfrm>
            <a:off x="5981065" y="1756410"/>
            <a:ext cx="5131435" cy="1296035"/>
          </a:xfrm>
          <a:prstGeom prst="rect">
            <a:avLst/>
          </a:prstGeom>
          <a:gradFill rotWithShape="1"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rgbClr val="3474CB"/>
              </a:gs>
              <a:gs pos="0">
                <a:srgbClr val="03BEC1"/>
              </a:gs>
              <a:gs pos="100000">
                <a:srgbClr val="8E52DF"/>
              </a:gs>
            </a:gsLst>
            <a:lin ang="5400000" scaled="1"/>
          </a:gradFill>
          <a:scene3d>
            <a:camera prst="perspectiveRelaxedModerately"/>
            <a:lightRig rig="threePt" dir="t"/>
          </a:scene3d>
          <a:sp3d extrusionH="76200"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800"/>
              <a:t>Https</a:t>
            </a:r>
            <a:r>
              <a:rPr lang="zh-CN" altLang="en-US" sz="4800"/>
              <a:t>加密</a:t>
            </a:r>
            <a:r>
              <a:rPr lang="zh-CN" altLang="en-US" sz="4800"/>
              <a:t>请求</a:t>
            </a:r>
            <a:endParaRPr lang="zh-CN" altLang="en-US" sz="4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641" t="20363" r="17367" b="20928"/>
          <a:stretch>
            <a:fillRect/>
          </a:stretch>
        </p:blipFill>
        <p:spPr>
          <a:xfrm>
            <a:off x="0" y="635"/>
            <a:ext cx="358140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8315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超能知，更慧知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641" t="20363" r="17367" b="20928"/>
          <a:stretch>
            <a:fillRect/>
          </a:stretch>
        </p:blipFill>
        <p:spPr>
          <a:xfrm>
            <a:off x="8610600" y="0"/>
            <a:ext cx="358140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345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共建</a:t>
            </a:r>
            <a:r>
              <a:rPr lang="en-US" altLang="zh-CN" sz="2800"/>
              <a:t>3 </a:t>
            </a:r>
            <a:r>
              <a:rPr lang="zh-CN" altLang="en-US" sz="2800"/>
              <a:t>同款处理</a:t>
            </a:r>
            <a:r>
              <a:rPr lang="zh-CN" altLang="en-US" sz="2800"/>
              <a:t>算法</a:t>
            </a:r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933450" y="264604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超能知，更慧知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641" t="20363" r="17367" b="20928"/>
          <a:stretch>
            <a:fillRect/>
          </a:stretch>
        </p:blipFill>
        <p:spPr>
          <a:xfrm>
            <a:off x="0" y="635"/>
            <a:ext cx="358140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1350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共建</a:t>
            </a:r>
            <a:r>
              <a:rPr lang="en-US" altLang="zh-CN" sz="2800"/>
              <a:t>3 </a:t>
            </a:r>
            <a:r>
              <a:rPr lang="zh-CN" altLang="en-US" sz="2800"/>
              <a:t>同款处理</a:t>
            </a:r>
            <a:r>
              <a:rPr lang="zh-CN" altLang="en-US" sz="2800"/>
              <a:t>算法</a:t>
            </a:r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6413500" y="264604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超能知，更慧知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6413500" y="36899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更</a:t>
            </a:r>
            <a:r>
              <a:rPr lang="zh-CN" altLang="en-US" sz="28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安全的</a:t>
            </a:r>
            <a:r>
              <a:rPr lang="zh-CN" altLang="en-US" sz="28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处理</a:t>
            </a:r>
            <a:endParaRPr lang="zh-CN" altLang="en-US" sz="28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641" t="20363" r="17367" b="20928"/>
          <a:stretch>
            <a:fillRect/>
          </a:stretch>
        </p:blipFill>
        <p:spPr>
          <a:xfrm>
            <a:off x="0" y="635"/>
            <a:ext cx="3581400" cy="68573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1350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就是</a:t>
            </a:r>
            <a:r>
              <a:rPr lang="zh-CN" altLang="en-US" sz="28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共建云</a:t>
            </a:r>
            <a:r>
              <a:rPr lang="en-US" altLang="zh-CN" sz="28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1</a:t>
            </a:r>
            <a:endParaRPr lang="en-US" altLang="zh-CN" sz="28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470400" y="-2096770"/>
            <a:ext cx="2488565" cy="149860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快，也稳</a:t>
            </a:r>
            <a:endParaRPr lang="zh-CN" altLang="en-US" sz="2800"/>
          </a:p>
          <a:p>
            <a:pPr algn="ctr"/>
            <a:r>
              <a:rPr lang="zh-CN" altLang="en-US" sz="700"/>
              <a:t>最快仅</a:t>
            </a:r>
            <a:r>
              <a:rPr lang="en-US" altLang="zh-CN" sz="2800" b="1"/>
              <a:t>30ms</a:t>
            </a:r>
            <a:endParaRPr lang="en-US" altLang="zh-CN" sz="2800" b="1"/>
          </a:p>
        </p:txBody>
      </p:sp>
      <p:sp>
        <p:nvSpPr>
          <p:cNvPr id="2" name="圆角矩形 1"/>
          <p:cNvSpPr/>
          <p:nvPr/>
        </p:nvSpPr>
        <p:spPr>
          <a:xfrm>
            <a:off x="13013690" y="0"/>
            <a:ext cx="5231130" cy="149860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智慧的新智能</a:t>
            </a:r>
            <a:endParaRPr lang="zh-CN" altLang="en-US" sz="2800"/>
          </a:p>
        </p:txBody>
      </p:sp>
      <p:grpSp>
        <p:nvGrpSpPr>
          <p:cNvPr id="10" name="组合 9"/>
          <p:cNvGrpSpPr/>
          <p:nvPr/>
        </p:nvGrpSpPr>
        <p:grpSpPr>
          <a:xfrm>
            <a:off x="-5099050" y="0"/>
            <a:ext cx="4457700" cy="1498600"/>
            <a:chOff x="0" y="0"/>
            <a:chExt cx="7020" cy="2360"/>
          </a:xfrm>
        </p:grpSpPr>
        <p:sp>
          <p:nvSpPr>
            <p:cNvPr id="4" name="圆角矩形 3"/>
            <p:cNvSpPr/>
            <p:nvPr/>
          </p:nvSpPr>
          <p:spPr>
            <a:xfrm>
              <a:off x="0" y="0"/>
              <a:ext cx="7020" cy="2360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3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600" b="1"/>
                <a:t>       </a:t>
              </a:r>
              <a:r>
                <a:rPr lang="zh-CN" altLang="en-US" sz="3600" b="1"/>
                <a:t>更安全</a:t>
              </a:r>
              <a:endParaRPr lang="zh-CN" altLang="en-US" sz="3600" b="1"/>
            </a:p>
          </p:txBody>
        </p:sp>
        <p:pic>
          <p:nvPicPr>
            <p:cNvPr id="3" name="图片 2" descr="盾牌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0" y="460"/>
              <a:ext cx="1440" cy="1440"/>
            </a:xfrm>
            <a:prstGeom prst="rect">
              <a:avLst/>
            </a:prstGeom>
          </p:spPr>
        </p:pic>
      </p:grpSp>
      <p:sp>
        <p:nvSpPr>
          <p:cNvPr id="8" name="圆角矩形 7"/>
          <p:cNvSpPr/>
          <p:nvPr/>
        </p:nvSpPr>
        <p:spPr>
          <a:xfrm>
            <a:off x="0" y="7456170"/>
            <a:ext cx="12203430" cy="1842770"/>
          </a:xfrm>
          <a:prstGeom prst="roundRect">
            <a:avLst>
              <a:gd name="adj" fmla="val 9499"/>
            </a:avLst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将在</a:t>
            </a:r>
            <a:endParaRPr lang="zh-CN" altLang="en-US" sz="2800"/>
          </a:p>
          <a:p>
            <a:pPr algn="ctr"/>
            <a:r>
              <a:rPr lang="zh-CN" altLang="en-US" sz="2000"/>
              <a:t>共建智能官方网站</a:t>
            </a:r>
            <a:endParaRPr lang="zh-CN" altLang="en-US" sz="2000"/>
          </a:p>
          <a:p>
            <a:pPr algn="ctr"/>
            <a:r>
              <a:rPr lang="zh-CN" altLang="en-US" sz="2800"/>
              <a:t>上推出</a:t>
            </a:r>
            <a:endParaRPr lang="zh-CN" altLang="en-US" sz="280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4470400" y="0"/>
            <a:ext cx="2488565" cy="149860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快，也稳</a:t>
            </a:r>
            <a:endParaRPr lang="zh-CN" altLang="en-US" sz="2800"/>
          </a:p>
          <a:p>
            <a:pPr algn="ctr"/>
            <a:r>
              <a:rPr lang="zh-CN" altLang="en-US" sz="700"/>
              <a:t>最快仅</a:t>
            </a:r>
            <a:r>
              <a:rPr lang="en-US" altLang="zh-CN" sz="2800" b="1"/>
              <a:t>30ms</a:t>
            </a:r>
            <a:endParaRPr lang="en-US" altLang="zh-CN" sz="2800" b="1"/>
          </a:p>
        </p:txBody>
      </p:sp>
      <p:sp>
        <p:nvSpPr>
          <p:cNvPr id="6" name="圆角矩形 5"/>
          <p:cNvSpPr/>
          <p:nvPr/>
        </p:nvSpPr>
        <p:spPr>
          <a:xfrm>
            <a:off x="6971665" y="0"/>
            <a:ext cx="5231130" cy="1498600"/>
          </a:xfrm>
          <a:prstGeom prst="roundRect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智慧的新智能</a:t>
            </a:r>
            <a:endParaRPr lang="zh-CN" altLang="en-US" sz="2800"/>
          </a:p>
        </p:txBody>
      </p:sp>
      <p:grpSp>
        <p:nvGrpSpPr>
          <p:cNvPr id="10" name="组合 9"/>
          <p:cNvGrpSpPr/>
          <p:nvPr/>
        </p:nvGrpSpPr>
        <p:grpSpPr>
          <a:xfrm>
            <a:off x="0" y="0"/>
            <a:ext cx="4457700" cy="1498600"/>
            <a:chOff x="0" y="0"/>
            <a:chExt cx="7020" cy="2360"/>
          </a:xfrm>
        </p:grpSpPr>
        <p:sp>
          <p:nvSpPr>
            <p:cNvPr id="4" name="圆角矩形 3"/>
            <p:cNvSpPr/>
            <p:nvPr/>
          </p:nvSpPr>
          <p:spPr>
            <a:xfrm>
              <a:off x="0" y="0"/>
              <a:ext cx="7020" cy="2360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3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600" b="1"/>
                <a:t>       </a:t>
              </a:r>
              <a:r>
                <a:rPr lang="zh-CN" altLang="en-US" sz="3600" b="1"/>
                <a:t>更安全</a:t>
              </a:r>
              <a:endParaRPr lang="zh-CN" altLang="en-US" sz="3600" b="1"/>
            </a:p>
          </p:txBody>
        </p:sp>
        <p:pic>
          <p:nvPicPr>
            <p:cNvPr id="7" name="图片 6" descr="盾牌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0" y="460"/>
              <a:ext cx="1440" cy="1440"/>
            </a:xfrm>
            <a:prstGeom prst="rect">
              <a:avLst/>
            </a:prstGeom>
          </p:spPr>
        </p:pic>
      </p:grpSp>
      <p:sp>
        <p:nvSpPr>
          <p:cNvPr id="8" name="圆角矩形 7"/>
          <p:cNvSpPr/>
          <p:nvPr/>
        </p:nvSpPr>
        <p:spPr>
          <a:xfrm>
            <a:off x="0" y="5015230"/>
            <a:ext cx="12203430" cy="1842770"/>
          </a:xfrm>
          <a:prstGeom prst="roundRect">
            <a:avLst>
              <a:gd name="adj" fmla="val 9499"/>
            </a:avLst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将在</a:t>
            </a:r>
            <a:endParaRPr lang="zh-CN" altLang="en-US" sz="2800"/>
          </a:p>
          <a:p>
            <a:pPr algn="ctr"/>
            <a:r>
              <a:rPr lang="zh-CN" altLang="en-US" sz="2000"/>
              <a:t>共建智能官方网站</a:t>
            </a:r>
            <a:endParaRPr lang="zh-CN" altLang="en-US" sz="2000"/>
          </a:p>
          <a:p>
            <a:pPr algn="ctr"/>
            <a:r>
              <a:rPr lang="zh-CN" altLang="en-US" sz="2800"/>
              <a:t>上推出</a:t>
            </a:r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1873568" y="2477135"/>
            <a:ext cx="8444865" cy="1904365"/>
          </a:xfrm>
          <a:prstGeom prst="rect">
            <a:avLst/>
          </a:prstGeom>
          <a:noFill/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p>
            <a:pPr algn="dist"/>
            <a:r>
              <a:rPr lang="zh-CN" altLang="en-US" sz="115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共建云</a:t>
            </a:r>
            <a:r>
              <a:rPr lang="en-US" altLang="zh-CN" sz="115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1</a:t>
            </a:r>
            <a:endParaRPr lang="en-US" altLang="zh-CN" sz="115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/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2667000" y="13018"/>
            <a:ext cx="6858000" cy="685736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共建</a:t>
            </a:r>
            <a:r>
              <a:rPr lang="en-US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4</a:t>
            </a:r>
            <a:endParaRPr lang="en-US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 anchor="ctr" anchorCtr="0">
            <a:normAutofit fontScale="90000"/>
          </a:bodyPr>
          <a:p>
            <a:r>
              <a:rPr lang="en-US" altLang="zh-CN">
                <a:sym typeface="+mn-ea"/>
              </a:rPr>
              <a:t>Gote</a:t>
            </a:r>
            <a:endParaRPr lang="en-US" altLang="zh-CN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AI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AGI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G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GJAI</a:t>
            </a:r>
            <a:endParaRPr lang="en-US" altLang="zh-CN" sz="4000"/>
          </a:p>
        </p:txBody>
      </p:sp>
      <p:sp>
        <p:nvSpPr>
          <p:cNvPr id="5" name="闪电形 4"/>
          <p:cNvSpPr/>
          <p:nvPr/>
        </p:nvSpPr>
        <p:spPr>
          <a:xfrm>
            <a:off x="-504825" y="-392430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闪电形 5"/>
          <p:cNvSpPr/>
          <p:nvPr/>
        </p:nvSpPr>
        <p:spPr>
          <a:xfrm>
            <a:off x="3978910" y="-265430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闪电形 6"/>
          <p:cNvSpPr/>
          <p:nvPr/>
        </p:nvSpPr>
        <p:spPr>
          <a:xfrm>
            <a:off x="208280" y="3333750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闪电形 7"/>
          <p:cNvSpPr/>
          <p:nvPr/>
        </p:nvSpPr>
        <p:spPr>
          <a:xfrm>
            <a:off x="5306695" y="4328160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闪电形 8"/>
          <p:cNvSpPr/>
          <p:nvPr/>
        </p:nvSpPr>
        <p:spPr>
          <a:xfrm>
            <a:off x="7819390" y="476250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闪电形 9"/>
          <p:cNvSpPr/>
          <p:nvPr/>
        </p:nvSpPr>
        <p:spPr>
          <a:xfrm>
            <a:off x="9070340" y="4821555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闪电形 10"/>
          <p:cNvSpPr/>
          <p:nvPr/>
        </p:nvSpPr>
        <p:spPr>
          <a:xfrm>
            <a:off x="9398000" y="-1292225"/>
            <a:ext cx="0" cy="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</a:t>
            </a:r>
            <a:r>
              <a:rPr lang="zh-CN" altLang="en-US" sz="4000"/>
              <a:t>更强</a:t>
            </a:r>
            <a:r>
              <a:rPr lang="zh-CN" altLang="en-US" sz="4000"/>
              <a:t>性能</a:t>
            </a:r>
            <a:endParaRPr lang="zh-CN" altLang="en-US" sz="4000"/>
          </a:p>
        </p:txBody>
      </p:sp>
      <p:sp>
        <p:nvSpPr>
          <p:cNvPr id="5" name="闪电形 4"/>
          <p:cNvSpPr/>
          <p:nvPr/>
        </p:nvSpPr>
        <p:spPr>
          <a:xfrm>
            <a:off x="-504825" y="-392430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闪电形 5"/>
          <p:cNvSpPr/>
          <p:nvPr/>
        </p:nvSpPr>
        <p:spPr>
          <a:xfrm>
            <a:off x="3978910" y="-265430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闪电形 6"/>
          <p:cNvSpPr/>
          <p:nvPr/>
        </p:nvSpPr>
        <p:spPr>
          <a:xfrm>
            <a:off x="208280" y="3333750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闪电形 7"/>
          <p:cNvSpPr/>
          <p:nvPr/>
        </p:nvSpPr>
        <p:spPr>
          <a:xfrm>
            <a:off x="5306695" y="4328160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闪电形 8"/>
          <p:cNvSpPr/>
          <p:nvPr/>
        </p:nvSpPr>
        <p:spPr>
          <a:xfrm>
            <a:off x="7819390" y="476250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闪电形 9"/>
          <p:cNvSpPr/>
          <p:nvPr/>
        </p:nvSpPr>
        <p:spPr>
          <a:xfrm>
            <a:off x="9070340" y="4821555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闪电形 10"/>
          <p:cNvSpPr/>
          <p:nvPr/>
        </p:nvSpPr>
        <p:spPr>
          <a:xfrm>
            <a:off x="9398000" y="-1292225"/>
            <a:ext cx="3280410" cy="3215640"/>
          </a:xfrm>
          <a:prstGeom prst="lightningBol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 rot="0">
            <a:off x="367665" y="463550"/>
            <a:ext cx="0" cy="0"/>
            <a:chOff x="477" y="664"/>
            <a:chExt cx="3935" cy="3755"/>
          </a:xfrm>
        </p:grpSpPr>
        <p:sp>
          <p:nvSpPr>
            <p:cNvPr id="12" name="椭圆 11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八角星 15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rot="0">
            <a:off x="367665" y="3674110"/>
            <a:ext cx="0" cy="0"/>
            <a:chOff x="477" y="664"/>
            <a:chExt cx="3935" cy="3755"/>
          </a:xfrm>
        </p:grpSpPr>
        <p:sp>
          <p:nvSpPr>
            <p:cNvPr id="19" name="椭圆 18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八角星 21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 rot="0">
            <a:off x="9326245" y="662305"/>
            <a:ext cx="0" cy="0"/>
            <a:chOff x="477" y="664"/>
            <a:chExt cx="3935" cy="3755"/>
          </a:xfrm>
        </p:grpSpPr>
        <p:sp>
          <p:nvSpPr>
            <p:cNvPr id="24" name="椭圆 23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八角星 26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9326245" y="4010660"/>
            <a:ext cx="0" cy="0"/>
            <a:chOff x="477" y="664"/>
            <a:chExt cx="3935" cy="3755"/>
          </a:xfrm>
        </p:grpSpPr>
        <p:sp>
          <p:nvSpPr>
            <p:cNvPr id="29" name="椭圆 28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八角星 31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</a:t>
            </a:r>
            <a:r>
              <a:rPr lang="zh-CN" altLang="en-US" sz="4000"/>
              <a:t>更多</a:t>
            </a:r>
            <a:r>
              <a:rPr lang="zh-CN" altLang="en-US" sz="4000"/>
              <a:t>工具</a:t>
            </a:r>
            <a:endParaRPr lang="zh-CN" altLang="en-US" sz="4000"/>
          </a:p>
        </p:txBody>
      </p:sp>
      <p:grpSp>
        <p:nvGrpSpPr>
          <p:cNvPr id="17" name="组合 16"/>
          <p:cNvGrpSpPr/>
          <p:nvPr/>
        </p:nvGrpSpPr>
        <p:grpSpPr>
          <a:xfrm rot="0">
            <a:off x="367665" y="463550"/>
            <a:ext cx="2498725" cy="2384425"/>
            <a:chOff x="477" y="664"/>
            <a:chExt cx="3935" cy="3755"/>
          </a:xfrm>
        </p:grpSpPr>
        <p:sp>
          <p:nvSpPr>
            <p:cNvPr id="12" name="椭圆 11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八角星 15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rot="0">
            <a:off x="367665" y="3674110"/>
            <a:ext cx="2498725" cy="2384425"/>
            <a:chOff x="477" y="664"/>
            <a:chExt cx="3935" cy="3755"/>
          </a:xfrm>
        </p:grpSpPr>
        <p:sp>
          <p:nvSpPr>
            <p:cNvPr id="19" name="椭圆 18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八角星 21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3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 rot="0">
            <a:off x="9326245" y="662305"/>
            <a:ext cx="2498725" cy="2384425"/>
            <a:chOff x="477" y="664"/>
            <a:chExt cx="3935" cy="3755"/>
          </a:xfrm>
        </p:grpSpPr>
        <p:sp>
          <p:nvSpPr>
            <p:cNvPr id="24" name="椭圆 23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八角星 26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6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9326245" y="4010660"/>
            <a:ext cx="2498725" cy="2384425"/>
            <a:chOff x="477" y="664"/>
            <a:chExt cx="3935" cy="3755"/>
          </a:xfrm>
        </p:grpSpPr>
        <p:sp>
          <p:nvSpPr>
            <p:cNvPr id="29" name="椭圆 28"/>
            <p:cNvSpPr/>
            <p:nvPr/>
          </p:nvSpPr>
          <p:spPr>
            <a:xfrm>
              <a:off x="477" y="664"/>
              <a:ext cx="1440" cy="1440"/>
            </a:xfrm>
            <a:prstGeom prst="ellipse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972" y="664"/>
              <a:ext cx="1440" cy="1440"/>
            </a:xfrm>
            <a:prstGeom prst="rect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477" y="2979"/>
              <a:ext cx="1440" cy="1440"/>
            </a:xfrm>
            <a:prstGeom prst="triangle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八角星 31"/>
            <p:cNvSpPr/>
            <p:nvPr/>
          </p:nvSpPr>
          <p:spPr>
            <a:xfrm>
              <a:off x="2972" y="2979"/>
              <a:ext cx="1440" cy="1440"/>
            </a:xfrm>
            <a:prstGeom prst="star8">
              <a:avLst/>
            </a:prstGeom>
          </p:spPr>
          <p:style>
            <a:lnRef idx="0">
              <a:srgbClr val="FFFFFF"/>
            </a:lnRef>
            <a:fillRef idx="3">
              <a:schemeClr val="accent4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317"/>
            <a:ext cx="6858000" cy="6857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CJ</a:t>
            </a:r>
            <a:r>
              <a:rPr lang="en-US" altLang="zh-CN" sz="4000"/>
              <a:t>AI</a:t>
            </a:r>
            <a:endParaRPr lang="en-US" altLang="zh-CN" sz="4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/>
          <p:nvPr/>
        </p:nvPicPr>
        <p:blipFill>
          <a:blip r:embed="rId1"/>
          <a:stretch>
            <a:fillRect/>
          </a:stretch>
        </p:blipFill>
        <p:spPr>
          <a:xfrm flipH="1">
            <a:off x="5334000" y="-317"/>
            <a:ext cx="6858000" cy="6857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NEW </a:t>
            </a:r>
            <a:r>
              <a:rPr lang="zh-CN" altLang="en-US" sz="4000"/>
              <a:t>共建</a:t>
            </a:r>
            <a:r>
              <a:rPr lang="en-US" altLang="zh-CN" sz="4000"/>
              <a:t>AI</a:t>
            </a:r>
            <a:endParaRPr lang="en-US" altLang="zh-CN" sz="4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265" y="3083243"/>
            <a:ext cx="690880" cy="690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    NEW </a:t>
            </a:r>
            <a:r>
              <a:rPr lang="zh-CN" altLang="en-US" sz="4000"/>
              <a:t>共建</a:t>
            </a:r>
            <a:r>
              <a:rPr lang="en-US" altLang="zh-CN" sz="4000"/>
              <a:t>AI</a:t>
            </a:r>
            <a:endParaRPr lang="en-US" altLang="zh-CN" sz="4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    </a:t>
            </a:r>
            <a:r>
              <a:rPr lang="zh-CN" altLang="en-US" sz="4000"/>
              <a:t>共建</a:t>
            </a:r>
            <a:r>
              <a:rPr lang="en-US" altLang="zh-CN" sz="4000"/>
              <a:t>AI 4</a:t>
            </a:r>
            <a:endParaRPr lang="en-US" altLang="zh-CN" sz="4000"/>
          </a:p>
        </p:txBody>
      </p:sp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420" y="3083243"/>
            <a:ext cx="690880" cy="690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更</a:t>
            </a:r>
            <a:r>
              <a:rPr lang="en-US" altLang="zh-CN" sz="4000"/>
              <a:t>……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Word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好？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不止！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TA</a:t>
            </a:r>
            <a:r>
              <a:rPr lang="zh-CN" altLang="en-US" sz="4000"/>
              <a:t>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更更更更更更更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64000" y="3075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更差</a:t>
            </a:r>
            <a:r>
              <a:rPr lang="zh-CN" altLang="en-US" sz="4000"/>
              <a:t>了！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无网不能联网</a:t>
            </a:r>
            <a:r>
              <a:rPr lang="zh-CN" altLang="en-US" sz="4000"/>
              <a:t>搜索！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计算不出</a:t>
            </a:r>
            <a:r>
              <a:rPr lang="en-US" altLang="zh-CN" sz="4000"/>
              <a:t>π</a:t>
            </a:r>
            <a:r>
              <a:rPr lang="zh-CN" altLang="en-US" sz="4000"/>
              <a:t>的</a:t>
            </a:r>
            <a:r>
              <a:rPr lang="en-US" altLang="zh-CN" sz="4000"/>
              <a:t>100</a:t>
            </a:r>
            <a:r>
              <a:rPr lang="zh-CN" altLang="en-US" sz="4000"/>
              <a:t>位！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甚至还不能说</a:t>
            </a:r>
            <a:r>
              <a:rPr lang="en-US" altLang="zh-CN" sz="4000"/>
              <a:t>***</a:t>
            </a:r>
            <a:r>
              <a:rPr lang="zh-CN" altLang="en-US" sz="4000"/>
              <a:t>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好吧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更好</a:t>
            </a:r>
            <a:r>
              <a:rPr lang="zh-CN" altLang="en-US" sz="4000"/>
              <a:t>了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可以联网</a:t>
            </a:r>
            <a:r>
              <a:rPr lang="zh-CN" altLang="en-US" sz="4000"/>
              <a:t>搜索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可以计算</a:t>
            </a:r>
            <a:r>
              <a:rPr lang="zh-CN" altLang="en-US" sz="4000"/>
              <a:t>数学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还行</a:t>
            </a:r>
            <a:r>
              <a:rPr lang="zh-CN" altLang="en-US" sz="4000"/>
              <a:t>吧。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03300" y="3075305"/>
            <a:ext cx="101854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那，有请云</a:t>
            </a:r>
            <a:r>
              <a:rPr lang="en-US" altLang="zh-CN" sz="4000"/>
              <a:t>U</a:t>
            </a:r>
            <a:r>
              <a:rPr lang="zh-CN" altLang="en-US" sz="4000"/>
              <a:t>，一起来看看</a:t>
            </a:r>
            <a:r>
              <a:rPr lang="en-US" altLang="zh-CN" sz="4000"/>
              <a:t>——</a:t>
            </a:r>
            <a:endParaRPr lang="en-US" altLang="zh-CN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03300" y="3075305"/>
            <a:ext cx="101854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一起来看看</a:t>
            </a:r>
            <a:r>
              <a:rPr lang="en-US" altLang="zh-CN" sz="4000"/>
              <a:t>——</a:t>
            </a:r>
            <a:r>
              <a:rPr lang="zh-CN" altLang="en-US" sz="4000"/>
              <a:t>共建</a:t>
            </a:r>
            <a:r>
              <a:rPr lang="zh-CN" altLang="en-US" sz="4000"/>
              <a:t>助手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/>
          <p:nvPr/>
        </p:nvPicPr>
        <p:blipFill>
          <a:blip r:embed="rId1"/>
          <a:stretch>
            <a:fillRect/>
          </a:stretch>
        </p:blipFill>
        <p:spPr>
          <a:xfrm>
            <a:off x="474980" y="-317"/>
            <a:ext cx="6858000" cy="6857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86120" y="2921635"/>
            <a:ext cx="48088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6000"/>
              <a:t>共建助手</a:t>
            </a:r>
            <a:endParaRPr lang="zh-CN" altLang="en-US" sz="6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可以</a:t>
            </a:r>
            <a:r>
              <a:rPr lang="zh-CN" altLang="en-US" sz="4000"/>
              <a:t>检查更新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评分不用</a:t>
            </a:r>
            <a:r>
              <a:rPr lang="zh-CN" altLang="en-US" sz="4000"/>
              <a:t>去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78723" y="3075305"/>
            <a:ext cx="7234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/>
              <a:t>太差</a:t>
            </a:r>
            <a:r>
              <a:rPr lang="zh-CN" altLang="en-US" sz="4000"/>
              <a:t>了！</a:t>
            </a:r>
            <a:endParaRPr lang="zh-CN" altLang="en-US" sz="4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Word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wpp_generatetext" val="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DOCER_RESOURCE_TRACE_INFO" val="{&quot;id&quot;:&quot;50025854&quot;,&quot;origin&quot;:0,&quot;type&quot;:&quot;icons&quot;,&quot;user&quot;:&quot;1219240110&quot;}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DOCER_RESOURCE_TRACE_INFO" val="{&quot;id&quot;:&quot;50025854&quot;,&quot;origin&quot;:0,&quot;type&quot;:&quot;icons&quot;,&quot;user&quot;:&quot;1219240110&quot;}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25854],&quot;65&quot;:[20205081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resource_record_key" val="{&quot;10&quot;:[5002585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WPS 演示</Application>
  <PresentationFormat>宽屏</PresentationFormat>
  <Paragraphs>208</Paragraphs>
  <Slides>62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Arial</vt:lpstr>
      <vt:lpstr>宋体</vt:lpstr>
      <vt:lpstr>Wingdings</vt:lpstr>
      <vt:lpstr>Wingdings</vt:lpstr>
      <vt:lpstr>方正姚体</vt:lpstr>
      <vt:lpstr>微软雅黑</vt:lpstr>
      <vt:lpstr>Arial Unicode MS</vt:lpstr>
      <vt:lpstr>Calibri</vt:lpstr>
      <vt:lpstr>汉仪铸字美心体简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@PeaCocoa</vt:lpstr>
      <vt:lpstr>PowerPoint 演示文稿</vt:lpstr>
      <vt:lpstr>PowerPoint 演示文稿</vt:lpstr>
      <vt:lpstr>共建云1</vt:lpstr>
      <vt:lpstr>共建云 快速响应架构</vt:lpstr>
      <vt:lpstr>共建云 自我安全架构</vt:lpstr>
      <vt:lpstr>共建云 数据安全架构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共建4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29666</dc:creator>
  <cp:lastModifiedBy>豌豆哒哒</cp:lastModifiedBy>
  <cp:revision>162</cp:revision>
  <dcterms:created xsi:type="dcterms:W3CDTF">2019-06-19T02:08:00Z</dcterms:created>
  <dcterms:modified xsi:type="dcterms:W3CDTF">2026-02-28T08:57:29Z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E5D880A3CC10489686DB3E0C6AFE8791_11</vt:lpwstr>
  </property>
</Properties>
</file>